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6" r:id="rId1"/>
    <p:sldMasterId id="2147483910" r:id="rId2"/>
    <p:sldMasterId id="2147483913" r:id="rId3"/>
    <p:sldMasterId id="2147483903" r:id="rId4"/>
  </p:sldMasterIdLst>
  <p:notesMasterIdLst>
    <p:notesMasterId r:id="rId11"/>
  </p:notesMasterIdLst>
  <p:handoutMasterIdLst>
    <p:handoutMasterId r:id="rId12"/>
  </p:handout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lide" id="{E8D0D622-F6C6-F44A-B365-B4A5FF6195C2}">
          <p14:sldIdLst>
            <p14:sldId id="294"/>
          </p14:sldIdLst>
        </p14:section>
        <p14:section name="Contents" id="{9D221634-295C-7843-AF5C-A0CB4F229241}">
          <p14:sldIdLst>
            <p14:sldId id="293"/>
          </p14:sldIdLst>
        </p14:section>
        <p14:section name="Chapter Page" id="{FD05EE94-C931-8C4B-83A2-004B32AA1207}">
          <p14:sldIdLst>
            <p14:sldId id="295"/>
            <p14:sldId id="315"/>
            <p14:sldId id="285"/>
          </p14:sldIdLst>
        </p14:section>
        <p14:section name="Last Page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  <a:srgbClr val="596BD1"/>
    <a:srgbClr val="5B71D4"/>
    <a:srgbClr val="E6E6E6"/>
    <a:srgbClr val="DEDEDE"/>
    <a:srgbClr val="CFCFCF"/>
    <a:srgbClr val="000000"/>
    <a:srgbClr val="151515"/>
    <a:srgbClr val="C7000B"/>
    <a:srgbClr val="5757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6291"/>
  </p:normalViewPr>
  <p:slideViewPr>
    <p:cSldViewPr snapToGrid="0" snapToObjects="1">
      <p:cViewPr varScale="1">
        <p:scale>
          <a:sx n="81" d="100"/>
          <a:sy n="81" d="100"/>
        </p:scale>
        <p:origin x="4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C5C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D3-42C4-A136-D69AF27F5295}"/>
              </c:ext>
            </c:extLst>
          </c:dPt>
          <c:dPt>
            <c:idx val="1"/>
            <c:invertIfNegative val="0"/>
            <c:bubble3D val="0"/>
            <c:spPr>
              <a:solidFill>
                <a:srgbClr val="92929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D3-42C4-A136-D69AF27F5295}"/>
              </c:ext>
            </c:extLst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D3-42C4-A136-D69AF27F5295}"/>
              </c:ext>
            </c:extLst>
          </c:dPt>
          <c:dPt>
            <c:idx val="3"/>
            <c:invertIfNegative val="0"/>
            <c:bubble3D val="0"/>
            <c:spPr>
              <a:solidFill>
                <a:srgbClr val="E9002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D3-42C4-A136-D69AF27F5295}"/>
              </c:ext>
            </c:extLst>
          </c:dPt>
          <c:dPt>
            <c:idx val="4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D3-42C4-A136-D69AF27F5295}"/>
              </c:ext>
            </c:extLst>
          </c:dPt>
          <c:dPt>
            <c:idx val="5"/>
            <c:invertIfNegative val="0"/>
            <c:bubble3D val="0"/>
            <c:spPr>
              <a:solidFill>
                <a:srgbClr val="FBA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D3-42C4-A136-D69AF27F5295}"/>
              </c:ext>
            </c:extLst>
          </c:dPt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S. &amp; Cent.</c:v>
                </c:pt>
                <c:pt idx="2">
                  <c:v>Europe &amp;</c:v>
                </c:pt>
                <c:pt idx="3">
                  <c:v>Middle</c:v>
                </c:pt>
                <c:pt idx="4">
                  <c:v>Africa</c:v>
                </c:pt>
                <c:pt idx="5">
                  <c:v>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50</c:v>
                </c:pt>
                <c:pt idx="2">
                  <c:v>70</c:v>
                </c:pt>
                <c:pt idx="3">
                  <c:v>140</c:v>
                </c:pt>
                <c:pt idx="4">
                  <c:v>70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0D3-42C4-A136-D69AF27F52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"/>
        <c:overlap val="9"/>
        <c:axId val="789460320"/>
        <c:axId val="789458144"/>
      </c:barChart>
      <c:catAx>
        <c:axId val="7894603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89458144"/>
        <c:crosses val="autoZero"/>
        <c:auto val="1"/>
        <c:lblAlgn val="ctr"/>
        <c:lblOffset val="100"/>
        <c:noMultiLvlLbl val="0"/>
      </c:catAx>
      <c:valAx>
        <c:axId val="789458144"/>
        <c:scaling>
          <c:orientation val="minMax"/>
          <c:max val="160"/>
          <c:min val="0"/>
        </c:scaling>
        <c:delete val="1"/>
        <c:axPos val="l"/>
        <c:majorGridlines>
          <c:spPr>
            <a:ln w="9525" cap="flat" cmpd="sng" algn="ctr">
              <a:solidFill>
                <a:srgbClr val="C5C5C5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789460320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>
                <a:latin typeface="Huawei Sans" panose="020C0503030203020204" pitchFamily="34" charset="0"/>
              </a:rPr>
              <a:t>10/23/2025</a:t>
            </a:fld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>
                <a:latin typeface="Huawei Sans" panose="020C0503030203020204" pitchFamily="34" charset="0"/>
              </a:rPr>
              <a:t>‹#›</a:t>
            </a:fld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0DD60A27-BF12-6744-9E93-932A0E34D8BB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F07326F3-4732-B74B-9C70-D0992466E49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4562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9574A3C-DF18-4313-A135-099508AA80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33" t="15108" r="27233" b="28501"/>
          <a:stretch/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0121970-0D4B-490B-8C7B-77CFCE54E2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40" y="327660"/>
            <a:ext cx="572625" cy="566867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8D2239F5-4BDB-47B9-884A-3112584812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07245" y="5901690"/>
            <a:ext cx="861859" cy="62865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B1C27E3-16C6-463A-B434-45FDCCAFDAC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54504" y="327660"/>
            <a:ext cx="2514600" cy="19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168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-US" altLang="zh-CN" dirty="0"/>
              <a:t>Click to add text</a:t>
            </a:r>
          </a:p>
        </p:txBody>
      </p:sp>
      <p:cxnSp>
        <p:nvCxnSpPr>
          <p:cNvPr id="5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115975" y="1349255"/>
            <a:ext cx="161542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1010869" y="720733"/>
            <a:ext cx="18405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tx1"/>
                </a:solidFill>
                <a:latin typeface="Huawei Sans" panose="020C0503030203020204" pitchFamily="34" charset="0"/>
                <a:ea typeface="Microsoft YaHei" charset="-122"/>
                <a:cs typeface="Huawei Sans" panose="020C0503030203020204" pitchFamily="34" charset="0"/>
              </a:rPr>
              <a:t>Contents</a:t>
            </a:r>
            <a:endParaRPr kumimoji="1" lang="zh-CN" altLang="en-US" sz="3600" dirty="0">
              <a:solidFill>
                <a:schemeClr val="tx1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9803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Huawei Sans Medium" panose="020C0603030203020204" pitchFamily="34" charset="0"/>
                <a:ea typeface="Microsoft YaHei" panose="020B0503020204020204" pitchFamily="34" charset="-122"/>
                <a:cs typeface="Huawei Sans Medium" panose="020C0603030203020204" pitchFamily="34" charset="0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en-US" altLang="zh-CN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388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800" baseline="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329026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600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2pPr>
            <a:lvl3pPr marL="930300" marR="0" indent="0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None/>
              <a:tabLst>
                <a:tab pos="1208088" algn="ctr"/>
              </a:tabLst>
              <a:defRPr sz="1299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en-US" altLang="zh-CN" dirty="0"/>
              <a:t>Click to add text</a:t>
            </a:r>
          </a:p>
          <a:p>
            <a:pPr marL="329026" marR="0" lvl="1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5374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bg>
      <p:bgPr>
        <a:gradFill>
          <a:gsLst>
            <a:gs pos="0">
              <a:srgbClr val="EFEDEE"/>
            </a:gs>
            <a:gs pos="53000">
              <a:srgbClr val="F1EFF0"/>
            </a:gs>
            <a:gs pos="77000">
              <a:srgbClr val="EFEDEE"/>
            </a:gs>
            <a:gs pos="100000">
              <a:srgbClr val="EFEBE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528" y="106331"/>
            <a:ext cx="10519708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92823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131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3.xml"/><Relationship Id="rId4" Type="http://schemas.openxmlformats.org/officeDocument/2006/relationships/image" Target="../media/image7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4.xml"/><Relationship Id="rId3" Type="http://schemas.openxmlformats.org/officeDocument/2006/relationships/image" Target="../media/image8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9181AA-8E93-7743-ADEB-8A06A0DFC13A}"/>
              </a:ext>
            </a:extLst>
          </p:cNvPr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83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7359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>
                <a:solidFill>
                  <a:srgbClr val="1D1D1B"/>
                </a:solidFill>
                <a:latin typeface="Huawei Sans" panose="020C0503030203020204" pitchFamily="34" charset="0"/>
                <a:ea typeface="+mn-ea"/>
                <a:cs typeface="Huawei Sans" panose="020C0503030203020204" pitchFamily="34" charset="0"/>
              </a:rPr>
              <a:t>Huawei Confidential</a:t>
            </a:r>
            <a:endParaRPr lang="en-US" sz="900" b="0" kern="1200" baseline="0" dirty="0">
              <a:solidFill>
                <a:srgbClr val="1D1D1B"/>
              </a:solidFill>
              <a:latin typeface="Huawei Sans" panose="020C0503030203020204" pitchFamily="34" charset="0"/>
              <a:ea typeface="+mn-ea"/>
              <a:cs typeface="Huawei Sans" panose="020C05030302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19484"/>
            <a:ext cx="1270800" cy="27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72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4" r:id="rId1"/>
    <p:sldLayoutId id="2147483917" r:id="rId2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33901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92140-33FB-E045-9071-EE8DB65F2A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82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Huawei Sans" panose="020C0503030203020204" pitchFamily="34" charset="0"/>
          <a:ea typeface="Microsoft YaHei" panose="020B0503020204020204" pitchFamily="34" charset="-122"/>
          <a:cs typeface="Huawei Sans" panose="020C0503030203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1">
                <a:solidFill>
                  <a:srgbClr val="1F2328"/>
                </a:solidFill>
              </a:rPr>
              <a:t>Treinamento O&amp;M Hotline Huawei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41832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HCS 8.6.1 | Operações &amp; Manutenção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400" b="0">
                <a:solidFill>
                  <a:srgbClr val="E8E8E8"/>
                </a:solidFill>
              </a:rPr>
              <a:t>Módulo 1 | Português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Agenda do Treinamento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1F2328"/>
                </a:solidFill>
              </a:rPr>
              <a:t>1. Arquitetura HCS 8.6.1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2. Famílias de Serviços e Acronimos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3. Processo de Abertura de SR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4. Notificação ao TAC e Template de SR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5. Processo ITR (Issue To Resolve)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6. Matriz de Escalação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7. Operações Comuns de O&amp;M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8. Melhores Práticas e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Arquitetura HCS 8.6.1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Plano de Gestão e Plano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Visão Geral da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O HCS (Huawei Cloud Stack) é uma solução de nuvem privada on-premise.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Componentes principais: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ManageOne — plataforma de operações unificada (O&amp;M)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ServiceCenter — portal de autoserviço e catálogo de serviços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FusionSphere — virtualização (compute, storage, network)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OMBase — banco de dados de operações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Versão alvo: HCS 8.6.1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Objetivo: equipe autorando conteúdo a partir de 01/09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Plano de Gestão vs Plano de Dados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79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4639"/>
                <a:gridCol w="3351331"/>
                <a:gridCol w="4382509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Camada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Componentes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Função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Gestão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ManageOne, OMBase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O&amp;M, monitoramento, billing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Gestão ServiceCenter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ServiceCenter, Catalog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Autoserviço, aprovisionamento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Dados — Compute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FusionCompute, ECS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VMs, containers, auto scaling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Dados — Storage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FusionStorage, EVS, OBS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Block, object, file storage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Dados — Network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Rede virtual, IP, balanceamento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ManageOne é a plataforma de operações — não é um serviço cloud. ServiceCenter é o portal de autoserviço.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Serviços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Famílias, detalhes e o que o hotline precisa saber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Famílias de Serviços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79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8040"/>
                <a:gridCol w="6141720"/>
                <a:gridCol w="1188719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Família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Serviços Principais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Qtd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Computação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ECS, IMS, AS, CCE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Armazenamento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EVS, OBS, SFS, HBR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Rede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ELB, NAT, VPN, DNS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6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Banco de Dados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RDS, GaussDB, DRS, DDS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Segurança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Anti-DDoS, WAF, IAM, KMS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O hotline precisa saber o nome oficial do serviço para roteamento do SR. Cada família tem características e problemas próprios — veremos a seguir.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Computação — Serviços em Detalhe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Quando Usar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Verificar Primeiro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ECS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Servidor virtual que você aluga na nuvem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Apps web, APIs, processamento de dados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Status da VM, quotas, eventos do sistema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IMS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Imagem/template para criar VMs rápido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Deploy repetível e padronizado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Imagem existe? Versão correta?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AS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Adiciona/remove VMs automaticamente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Picos de tráfego, workloads variáveis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Políticas de scaling, min/max instâncias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CCE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Kubernetes gerenciado (containers)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Microserviços, aplicações modernas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Status dos pods, nós prontos, quotas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ECS é o serviço mais comum — a maioria dos SRs de computação começa aqui. Sempre confirmar: nome da VM, flavor (CPU/RAM) e status atual.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Armazenamento — Serviços em Detalhe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Quando Usar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Verificar Primeiro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EVS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Disco virtual anexado a uma VM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Discos de sistema e dados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Capacidade, IOPS, está anexado?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Armazenamento de objetos (tipo S3)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Backups, mídia, arquivos estáticos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AK/SK válidas? Bucket existe?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SFS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Sistema de arquivos compartilhado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Arquivos compartilhados entre VMs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Mount point, quota, performance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HBR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Backup e recuperação híbrida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DR, backups de VMs e dados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Job rodou? Restore foi testado?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Disco cheio (&gt;90%) é o problema mais comum de armazenamento. Verificar sempre capacidade e IOPS antes de escalar.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Rede — Serviços em Detalhe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Quando Usar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Verificar Primeiro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VPC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Rede privada isolada na nuvem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Todos os recursos cloud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Subnets, route tables, SG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EIP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IP público para acesso externo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Serviços voltados à internet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EIP associada? Reachability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Distribui tráfego entre servidores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Alta disponibilidade, scaling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Health checks, backends saudáveis?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NAT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VMs privadas acessam internet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VMs sem EIP que precisam de internet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Regras NAT, gateway ativo?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VPN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Túnel seguro on-premise ↔ nuvem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Conexão híbrida, acesso remoto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Tunnel up? Rotas corretas?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DNS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Resolução de nomes em IPs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Todos os serviços com nomes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Zona existe? Records corretos?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Problemas de rede quase sempre envolvem Security Group ou VPC. Confirmar SG (portas abertas) e route table antes de escalar.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Banco de Dados — Serviços em Detalhe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Quando Usar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Verificar Primeiro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BD relacional gerenciado (MySQL, PG)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Apps que usam SQL padrão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Slow log, conexões, status HA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GaussDB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BD de alta performance da Huawei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Grande escala, OLTP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Performance, sync, conexões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DRS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Replicação e migração de dados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Migração entre bancos, sync contínua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Lag de sync, status do job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DDS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Banco de documentos (NoSQL)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Apps com schema flexível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Queries lentas, índices, conexões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RDS é o BD mais usado. Problemas comuns: slow queries e limite de conexões. Pedir sempre o slow log e o número de conexões ativas.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Segurança — Serviços em Detalhe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Quando Usar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Verificar Primeiro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Anti-DDoS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Proteção contra ataques de negação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Serviços públicos expostos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Tráfego anormal, evento de ataque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WAF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Firewall de aplicação web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Sites e APIs web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Regras WAF, falsos positivos, logs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IAM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Gestão de identidade e acesso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Todos os serviços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Políticas, roles, permissões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KMS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Gestão de chaves de criptografia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Dados sensíveis, compliance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Chave existe? Permissão de uso?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Nunca solicitar credenciais do cliente. Para problemas de acesso, verificar política IAM e orientar o cliente a validar permissões.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Referência Rápida — Hotline por Família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029200"/>
                <a:gridCol w="402336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Família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Primeira Coisa a Verificar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Escalar Quando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Computação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Status da VM, quotas, eventos do sistema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Não liga após checagens básicas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Armazenamento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Capacidade, IOPS, anexação do disco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Risco de perda de dados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Rede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Security Group, EIP, rotas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Perda total de conectividade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Banco de Dados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Slow log, conexões, status HA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Corrupção de dados ou HA failover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Segurança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Política IAM, regras WAF, tráfego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Ataque em andamento ou bloqueio total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Esta tabela é o seu guia de bolso. Antes de escalar qualquer SR, sempre passar pelas verificações da coluna do meio primeiro.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Acronimos Principais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3268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Acronimo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Descrição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ECS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Cloud Server — servidor virtual escalável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EVS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Volume Service — disco de bloco elástico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VPC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Virtual Private Cloud — rede virtual isolada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Load Balance — balanceador de carga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Relational Database Service — BD relacional gerenciado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Object Storage Service — armazenamento de objetos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IAM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Identity &amp; Access Management — gestão de identidade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Service Request — solicitação de serviço (ticket)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ITR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Issue To Resolve — incidente até resolução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TAC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Technical Assistance Center — centro de suporte técnico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Convenção de Nomenclatura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Regras para nomes de recursos no HCS: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VMs: [projeto]-[função]-[seq]  (ex: billing-app-01)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Volumes: [vm]-[disk]-[seq]     (ex: billing-app-disk-01)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VPCs: [region]-[env]-vpc       (ex: sa-east-1-prod-vpc)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SRs: SR-[ano][mes][seq]        (ex: SR-202609-00123)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Validação: sempre confirmar o nome exato do recurso antes de prosseguir.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Processo de Abertura de SR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Do email do cliente ao fechamento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Fluxo do Processo de SR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0" y="1645920"/>
            <a:ext cx="3657600" cy="41148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Receber SR (email do cliente)</a:t>
            </a:r>
          </a:p>
        </p:txBody>
      </p:sp>
      <p:sp>
        <p:nvSpPr>
          <p:cNvPr id="4" name="Down Arrow 3"/>
          <p:cNvSpPr/>
          <p:nvPr/>
        </p:nvSpPr>
        <p:spPr>
          <a:xfrm>
            <a:off x="5852160" y="224028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0" y="2423160"/>
            <a:ext cx="3657600" cy="41148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Validar identidade e contrato</a:t>
            </a:r>
          </a:p>
        </p:txBody>
      </p:sp>
      <p:sp>
        <p:nvSpPr>
          <p:cNvPr id="6" name="Down Arrow 5"/>
          <p:cNvSpPr/>
          <p:nvPr/>
        </p:nvSpPr>
        <p:spPr>
          <a:xfrm>
            <a:off x="5852160" y="301752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0" y="3200400"/>
            <a:ext cx="3657600" cy="41148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Classificar severidade (S1-S4)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52160" y="379476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0" y="3977640"/>
            <a:ext cx="3657600" cy="411480"/>
          </a:xfrm>
          <a:prstGeom prst="roundRect">
            <a:avLst/>
          </a:prstGeom>
          <a:solidFill>
            <a:srgbClr val="EDF6ED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Enviar email para TAC Team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52160" y="457200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4754880"/>
            <a:ext cx="3657600" cy="41148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Diagnosticar e resolver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852160" y="534924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14800" y="5532120"/>
            <a:ext cx="3657600" cy="41148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Verificar e fechar SR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Notificação ao TAC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667512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OBRIGATÓRIO: ao abrir qualquer SR, enviar email para o TAC Team usando o template de SR oficial.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>
                <a:solidFill>
                  <a:srgbClr val="1F2328"/>
                </a:solidFill>
              </a:rPr>
              <a:t>Template de SR (campos obrigatórios):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Número do SR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Cliente e site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Severidade (S1/S2/S3/S4)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Serviço afetado (nome oficial)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Descrição do problema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Impacto no negócio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Janela de manutenção (se aplicável)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Contato do responsável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Recebimento de Emails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Fluxo atual: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O cliente envia email → hotline recebe e abre SR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Futuro (em transição):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Emails chegaram via mailbox dedicada → triagem automática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Independente do canal de entrada, o processo é o mesmo: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1. Validar solicitante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2. Abrir SR no sistema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3. Notificar TAC Team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4. Atribuir responsável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Sempre validar a identidade do chamador contra a lista de contatos autorizados.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Processo ITR (Issue To Resolve)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Da triagem ao fechamento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Fluxo ITR com Escalação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Incidente Reportado</a:t>
            </a:r>
          </a:p>
        </p:txBody>
      </p:sp>
      <p:sp>
        <p:nvSpPr>
          <p:cNvPr id="4" name="Down Arrow 3"/>
          <p:cNvSpPr/>
          <p:nvPr/>
        </p:nvSpPr>
        <p:spPr>
          <a:xfrm>
            <a:off x="2400300" y="2331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25603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Triagem L1</a:t>
            </a:r>
          </a:p>
        </p:txBody>
      </p:sp>
      <p:sp>
        <p:nvSpPr>
          <p:cNvPr id="6" name="Down Arrow 5"/>
          <p:cNvSpPr/>
          <p:nvPr/>
        </p:nvSpPr>
        <p:spPr>
          <a:xfrm>
            <a:off x="2400300" y="3246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143000" y="3474720"/>
            <a:ext cx="2743200" cy="731520"/>
          </a:xfrm>
          <a:prstGeom prst="diamond">
            <a:avLst/>
          </a:prstGeom>
          <a:solidFill>
            <a:srgbClr val="FFF3E0"/>
          </a:solidFill>
          <a:ln w="12700"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1">
                <a:solidFill>
                  <a:srgbClr val="1F2328"/>
                </a:solidFill>
              </a:rPr>
              <a:t>L1 resolve?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3017520"/>
            <a:ext cx="22860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Escalar para L2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57600" y="315468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5600700" y="3474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033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L2 Investiga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600700" y="4389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4343400" y="4617720"/>
            <a:ext cx="2743200" cy="731520"/>
          </a:xfrm>
          <a:prstGeom prst="diamond">
            <a:avLst/>
          </a:prstGeom>
          <a:solidFill>
            <a:srgbClr val="FFF3E0"/>
          </a:solidFill>
          <a:ln w="12700"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1">
                <a:solidFill>
                  <a:srgbClr val="1F2328"/>
                </a:solidFill>
              </a:rPr>
              <a:t>L2 resolve?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572000"/>
            <a:ext cx="22860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Escalar L3/R&amp;D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858000" y="470916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800" y="5486400"/>
            <a:ext cx="3657600" cy="457200"/>
          </a:xfrm>
          <a:prstGeom prst="roundRect">
            <a:avLst/>
          </a:prstGeom>
          <a:solidFill>
            <a:srgbClr val="EDF6ED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Resolver &amp; Fechar ITR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Matriz de Escalação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8537"/>
                <a:gridCol w="3056708"/>
                <a:gridCol w="1528354"/>
                <a:gridCol w="4754879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Nível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Responsável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SLA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Quando Escalar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L1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Hotline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15 min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Problema não identificado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L2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Especialista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1h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L1 não resolve em 30 min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L3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Eng. de Produto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4h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Bug ou config complexa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R&amp;D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Desenvolvimento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24h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Bug de produto confirmado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57200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S1 (crítico): escalar imediatamente para L2 ao abrir o SR.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Operações Comuns de O&amp;M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Monitoramento, problemas e soluções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Monitoramento e Alertas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>
                <a:solidFill>
                  <a:srgbClr val="1F2328"/>
                </a:solidFill>
              </a:rPr>
              <a:t>Ferramentas de monitoramento HCS: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ManageOne Operation — dashboards de saúde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AOM (Application Operations Management) — métricas de app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APM (Application Performance Monitoring) — traces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CloudEye — monitoramento de infra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Alertass comuns: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CPU &gt; 80% por 5 min → verificar cargas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Disco &gt; 90% → verificar logs e snapshots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Memória &gt; 85% → verificar vazamentos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Latência de rede &gt; 100ms → verificar VPC/ELB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Problemas Comuns e Soluções Rápidas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534924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Problema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Sintoma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Ação Rápida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VM não liga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Status: ERROR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quotas, disco, rede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Disco cheio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Alerta &gt; 90%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Limpar logs, expandir EVS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Sem rede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Ping falha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VPC, EIP, SG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 unhealthy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Backend down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health check, porta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 lento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Query timeout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slow log, índices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 403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Access denied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AK/SK, policy IAM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Melhores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Checklist e recursos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O Que Fazer e O Que Não Fazer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Nunca solicitar ou aceitar credenciais do cliente. Oriente ao autoatendimento.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Sempre confirmar o nome exato do serviço e recurso antes de prosseguir.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39"/>
            <a:ext cx="10698480" cy="448056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Documentar cada passo do troubleshooting no SR para rastreabilidade.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Não aplicar workaround em produção sem janela de manutenção aprovada.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Usar o template de SR oficial ao notificar o TAC Team.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Recursos de Autoatendimento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Direcionar clientes para: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ServiceCenter — portal de autoserviço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Documentação HCS — docs.huaweicloud.com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Knowledge Base — artigos de troubleshooting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Status Page — status dos serviços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Forum — comunidade técnica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Benefícios: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Reduz volume de SRs de baixa severidade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Cliente resolve mais rápido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Hotline foca em S1/S2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Checklist de Validação do SR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Antes de fechar qualquer SR, validar: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Identidade do solicitante confirmada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Nome oficial do serviço identificado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Severidade classificada corretamente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TAC Team notificado com template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Diagnóstico documentado no SR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Solução aplicada e verificada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Cliente confirmou a resolução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SR fechado com resolução documentada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Lições aprendidas registradas (se aplicável)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Objetivo: equipe autorando conteúdo a partir de 01/09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Preparação necessária: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1. Revisar este treinamento completo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2. Praticar abertura de SRs com template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3. Familiarizar com ManageOne e ServiceCenter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4. Estudar fluxos ITR e matriz de escalação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5. Conhecer acronimos e famílias de serviços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Stack alvo: HCS 8.6.1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Dúvidas? Consultar a matriz de escalação ou escalar para L2.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1399032"/>
            <a:ext cx="3922776" cy="8503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800" b="0">
                <a:solidFill>
                  <a:srgbClr val="1F2328"/>
                </a:solidFill>
                <a:latin typeface="Huawei Sans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4E5724B-7154-473D-A508-2B054E8EE854}"/>
    </a:ext>
  </a:extLst>
</a:theme>
</file>

<file path=ppt/theme/theme2.xml><?xml version="1.0" encoding="utf-8"?>
<a:theme xmlns:a="http://schemas.openxmlformats.org/drawingml/2006/main" name="Contents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91E8AC51-71E2-47EB-A98B-31EFD4425DE1}"/>
    </a:ext>
  </a:extLst>
</a:theme>
</file>

<file path=ppt/theme/theme3.xml><?xml version="1.0" encoding="utf-8"?>
<a:theme xmlns:a="http://schemas.openxmlformats.org/drawingml/2006/main" name="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4.xml><?xml version="1.0" encoding="utf-8"?>
<a:theme xmlns:a="http://schemas.openxmlformats.org/drawingml/2006/main" name="Last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CE9DE895-046C-40AC-AD8E-ED7DD66048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8211</TotalTime>
  <Words>260</Words>
  <Application>Microsoft Office PowerPoint</Application>
  <PresentationFormat>Custom</PresentationFormat>
  <Paragraphs>70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1" baseType="lpstr">
      <vt:lpstr>Huawei Sans</vt:lpstr>
      <vt:lpstr>Huawei Sans bold</vt:lpstr>
      <vt:lpstr>Huawei Sans Medium</vt:lpstr>
      <vt:lpstr>Microsoft YaHei</vt:lpstr>
      <vt:lpstr>Microsoft YaHei</vt:lpstr>
      <vt:lpstr>方正兰亭黑简体</vt:lpstr>
      <vt:lpstr>Arial</vt:lpstr>
      <vt:lpstr>Calibri</vt:lpstr>
      <vt:lpstr>Calibri Light</vt:lpstr>
      <vt:lpstr>Helvetica</vt:lpstr>
      <vt:lpstr>Trebuchet MS</vt:lpstr>
      <vt:lpstr>1_Title Slide</vt:lpstr>
      <vt:lpstr>Contents</vt:lpstr>
      <vt:lpstr>Chapter Page</vt:lpstr>
      <vt:lpstr>Last Page</vt:lpstr>
      <vt:lpstr>PowerPoint Presentation</vt:lpstr>
      <vt:lpstr>PowerPoint Presentation</vt:lpstr>
      <vt:lpstr>PowerPoint Presentation</vt:lpstr>
      <vt:lpstr>Simple Timeline</vt:lpstr>
      <vt:lpstr>PowerPoint Presentation</vt:lpstr>
      <vt:lpstr>PowerPoint Presentation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Raul Myron Silva Amorim</cp:lastModifiedBy>
  <cp:revision>72</cp:revision>
  <dcterms:created xsi:type="dcterms:W3CDTF">2018-12-05T07:23:25Z</dcterms:created>
  <dcterms:modified xsi:type="dcterms:W3CDTF">2025-10-23T16:46:17Z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(3)TKIRsvJGB1AVwLuiVyVjJkBLlz+Tk4ycwbgcPygMtETI5CubN/+Xj9LD9xU10CvjzR8CSPhf
c7n7OWPwHulUdKGtEhYOyhlQU5QAioiyv0O2gAn5OI0ed3DcyaUHH2wudMcjo/tKeB6kORKB
/iaw+lN1ejzPsVQWC+vFAcz51+Aq85heu+9YHniksqnQSHN6u3oKIxDWLYKgFZLVJ7imEDMs
9JJmSoFskvjpoarCs5</vt:lpwstr>
  </property>
  <property fmtid="{D5CDD505-2E9C-101B-9397-08002B2CF9AE}" pid="3" name="_2015_ms_pID_7253431">
    <vt:lpwstr>1iu2XbqqlQqU/YU99QAol+bhCqese1xDCLmbpAVGE6fLwAq3OL3TbH
dJrp8dS6ujEh0ySRS2XYMxM3iLPOaKVAO7pL6g6FYtAtcP2tR0CzX4NG4QqaAAZP++VJg8dL
XOaV0onr4MNpyxAB7NWv6qCgAzEQLOJCeH3NqEnXvbbmLDLGJfpiTCkiZ+OfUZgRB/i7EJzZ
s3erScYclZ4o/yOjAZhBth6vtz7Fs1Ertjq2</vt:lpwstr>
  </property>
  <property fmtid="{D5CDD505-2E9C-101B-9397-08002B2CF9AE}" pid="4" name="_2015_ms_pID_7253432">
    <vt:lpwstr>Yg==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