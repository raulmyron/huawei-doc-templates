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6" r:id="rId1"/>
    <p:sldMasterId id="2147483910" r:id="rId2"/>
    <p:sldMasterId id="2147483913" r:id="rId3"/>
    <p:sldMasterId id="2147483903" r:id="rId4"/>
  </p:sldMasterIdLst>
  <p:notesMasterIdLst>
    <p:notesMasterId r:id="rId11"/>
  </p:notesMasterIdLst>
  <p:handoutMasterIdLst>
    <p:handoutMasterId r:id="rId12"/>
  </p:handout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" id="{E8D0D622-F6C6-F44A-B365-B4A5FF6195C2}">
          <p14:sldIdLst>
            <p14:sldId id="294"/>
          </p14:sldIdLst>
        </p14:section>
        <p14:section name="Contents" id="{9D221634-295C-7843-AF5C-A0CB4F229241}">
          <p14:sldIdLst>
            <p14:sldId id="293"/>
          </p14:sldIdLst>
        </p14:section>
        <p14:section name="Chapter Page" id="{FD05EE94-C931-8C4B-83A2-004B32AA1207}">
          <p14:sldIdLst>
            <p14:sldId id="295"/>
            <p14:sldId id="315"/>
            <p14:sldId id="285"/>
          </p14:sldIdLst>
        </p14:section>
        <p14:section name="Last Page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5" pos="3701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B"/>
    <a:srgbClr val="596BD1"/>
    <a:srgbClr val="5B71D4"/>
    <a:srgbClr val="E6E6E6"/>
    <a:srgbClr val="DEDEDE"/>
    <a:srgbClr val="CFCFCF"/>
    <a:srgbClr val="000000"/>
    <a:srgbClr val="151515"/>
    <a:srgbClr val="C7000B"/>
    <a:srgbClr val="5757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29" autoAdjust="0"/>
    <p:restoredTop sz="96291"/>
  </p:normalViewPr>
  <p:slideViewPr>
    <p:cSldViewPr snapToGrid="0" snapToObjects="1">
      <p:cViewPr varScale="1">
        <p:scale>
          <a:sx n="81" d="100"/>
          <a:sy n="81" d="100"/>
        </p:scale>
        <p:origin x="40" y="68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5" Type="http://schemas.openxmlformats.org/officeDocument/2006/relationships/slide" Target="slides/slide19.xml"/><Relationship Id="rId36" Type="http://schemas.openxmlformats.org/officeDocument/2006/relationships/slide" Target="slides/slide20.xml"/><Relationship Id="rId37" Type="http://schemas.openxmlformats.org/officeDocument/2006/relationships/slide" Target="slides/slide21.xml"/><Relationship Id="rId38" Type="http://schemas.openxmlformats.org/officeDocument/2006/relationships/slide" Target="slides/slide22.xml"/><Relationship Id="rId39" Type="http://schemas.openxmlformats.org/officeDocument/2006/relationships/slide" Target="slides/slide23.xml"/><Relationship Id="rId40" Type="http://schemas.openxmlformats.org/officeDocument/2006/relationships/slide" Target="slides/slide24.xml"/><Relationship Id="rId41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5C5C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0D3-42C4-A136-D69AF27F5295}"/>
              </c:ext>
            </c:extLst>
          </c:dPt>
          <c:dPt>
            <c:idx val="1"/>
            <c:invertIfNegative val="0"/>
            <c:bubble3D val="0"/>
            <c:spPr>
              <a:solidFill>
                <a:srgbClr val="92929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0D3-42C4-A136-D69AF27F5295}"/>
              </c:ext>
            </c:extLst>
          </c:dPt>
          <c:dPt>
            <c:idx val="2"/>
            <c:invertIfNegative val="0"/>
            <c:bubble3D val="0"/>
            <c:spPr>
              <a:solidFill>
                <a:srgbClr val="6666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0D3-42C4-A136-D69AF27F5295}"/>
              </c:ext>
            </c:extLst>
          </c:dPt>
          <c:dPt>
            <c:idx val="3"/>
            <c:invertIfNegative val="0"/>
            <c:bubble3D val="0"/>
            <c:spPr>
              <a:solidFill>
                <a:srgbClr val="E9002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0D3-42C4-A136-D69AF27F5295}"/>
              </c:ext>
            </c:extLst>
          </c:dPt>
          <c:dPt>
            <c:idx val="4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0D3-42C4-A136-D69AF27F5295}"/>
              </c:ext>
            </c:extLst>
          </c:dPt>
          <c:dPt>
            <c:idx val="5"/>
            <c:invertIfNegative val="0"/>
            <c:bubble3D val="0"/>
            <c:spPr>
              <a:solidFill>
                <a:srgbClr val="FBA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0D3-42C4-A136-D69AF27F5295}"/>
              </c:ext>
            </c:extLst>
          </c:dPt>
          <c:cat>
            <c:strRef>
              <c:f>Sheet1!$A$2:$A$7</c:f>
              <c:strCache>
                <c:ptCount val="6"/>
                <c:pt idx="0">
                  <c:v>North</c:v>
                </c:pt>
                <c:pt idx="1">
                  <c:v>S. &amp; Cent.</c:v>
                </c:pt>
                <c:pt idx="2">
                  <c:v>Europe &amp;</c:v>
                </c:pt>
                <c:pt idx="3">
                  <c:v>Middle</c:v>
                </c:pt>
                <c:pt idx="4">
                  <c:v>Africa</c:v>
                </c:pt>
                <c:pt idx="5">
                  <c:v>Asia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50</c:v>
                </c:pt>
                <c:pt idx="2">
                  <c:v>70</c:v>
                </c:pt>
                <c:pt idx="3">
                  <c:v>140</c:v>
                </c:pt>
                <c:pt idx="4">
                  <c:v>70</c:v>
                </c:pt>
                <c:pt idx="5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0D3-42C4-A136-D69AF27F52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"/>
        <c:overlap val="9"/>
        <c:axId val="789460320"/>
        <c:axId val="789458144"/>
      </c:barChart>
      <c:catAx>
        <c:axId val="78946032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89458144"/>
        <c:crosses val="autoZero"/>
        <c:auto val="1"/>
        <c:lblAlgn val="ctr"/>
        <c:lblOffset val="100"/>
        <c:noMultiLvlLbl val="0"/>
      </c:catAx>
      <c:valAx>
        <c:axId val="789458144"/>
        <c:scaling>
          <c:orientation val="minMax"/>
          <c:max val="160"/>
          <c:min val="0"/>
        </c:scaling>
        <c:delete val="1"/>
        <c:axPos val="l"/>
        <c:majorGridlines>
          <c:spPr>
            <a:ln w="9525" cap="flat" cmpd="sng" algn="ctr">
              <a:solidFill>
                <a:srgbClr val="C5C5C5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789460320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Huawei Sans" panose="020C0503030203020204" pitchFamily="34" charset="0"/>
              </a:rPr>
              <a:t>10/23/2025</a:t>
            </a:fld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Huawei Sans" panose="020C0503030203020204" pitchFamily="34" charset="0"/>
              </a:rPr>
              <a:t>‹#›</a:t>
            </a:fld>
            <a:endParaRPr lang="en-US" dirty="0">
              <a:latin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uawei Sans" panose="020C0503030203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uawei Sans" panose="020C0503030203020204" pitchFamily="34" charset="0"/>
              </a:defRPr>
            </a:lvl1pPr>
          </a:lstStyle>
          <a:p>
            <a:fld id="{0DD60A27-BF12-6744-9E93-932A0E34D8BB}" type="datetimeFigureOut">
              <a:rPr lang="en-US" smtClean="0"/>
              <a:pPr/>
              <a:t>10/23/2025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uawei Sans" panose="020C0503030203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uawei Sans" panose="020C0503030203020204" pitchFamily="34" charset="0"/>
              </a:defRPr>
            </a:lvl1pPr>
          </a:lstStyle>
          <a:p>
            <a:fld id="{F07326F3-4732-B74B-9C70-D0992466E49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Huawei Sans" panose="020C0503030203020204" pitchFamily="34" charset="0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Huawei Sans" panose="020C0503030203020204" pitchFamily="34" charset="0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Huawei Sans" panose="020C0503030203020204" pitchFamily="34" charset="0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Huawei Sans" panose="020C0503030203020204" pitchFamily="34" charset="0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Huawei Sans" panose="020C0503030203020204" pitchFamily="34" charset="0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9574A3C-DF18-4313-A135-099508AA80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33" t="15108" r="27233" b="28501"/>
          <a:stretch/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0121970-0D4B-490B-8C7B-77CFCE54E20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440" y="327660"/>
            <a:ext cx="572625" cy="566867"/>
          </a:xfrm>
          <a:prstGeom prst="rect">
            <a:avLst/>
          </a:prstGeom>
        </p:spPr>
      </p:pic>
      <p:pic>
        <p:nvPicPr>
          <p:cNvPr id="10" name="图形 9">
            <a:extLst>
              <a:ext uri="{FF2B5EF4-FFF2-40B4-BE49-F238E27FC236}">
                <a16:creationId xmlns:a16="http://schemas.microsoft.com/office/drawing/2014/main" id="{8D2239F5-4BDB-47B9-884A-31125848127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07245" y="5901690"/>
            <a:ext cx="861859" cy="628650"/>
          </a:xfrm>
          <a:prstGeom prst="rect">
            <a:avLst/>
          </a:prstGeom>
        </p:spPr>
      </p:pic>
      <p:pic>
        <p:nvPicPr>
          <p:cNvPr id="11" name="图形 10">
            <a:extLst>
              <a:ext uri="{FF2B5EF4-FFF2-40B4-BE49-F238E27FC236}">
                <a16:creationId xmlns:a16="http://schemas.microsoft.com/office/drawing/2014/main" id="{DB1C27E3-16C6-463A-B434-45FDCCAFDAC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54504" y="327660"/>
            <a:ext cx="2514600" cy="19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168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F7C7B5-0135-F749-B910-7325E96AE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463">
              <a:lnSpc>
                <a:spcPct val="70000"/>
              </a:lnSpc>
              <a:buFont typeface="+mj-lt"/>
              <a:buAutoNum type="arabicPeriod"/>
              <a:tabLst/>
              <a:defRPr sz="2200">
                <a:solidFill>
                  <a:schemeClr val="tx1"/>
                </a:solidFill>
                <a:latin typeface="Huawei Sans" panose="020C0503030203020204" pitchFamily="34" charset="0"/>
                <a:ea typeface="Microsoft YaHei" panose="020B0503020204020204" pitchFamily="34" charset="-122"/>
                <a:cs typeface="Huawei Sans" panose="020C0503030203020204" pitchFamily="34" charset="0"/>
              </a:defRPr>
            </a:lvl1pPr>
            <a:lvl2pPr marL="412750" indent="-398463">
              <a:buFont typeface="+mj-lt"/>
              <a:buAutoNum type="arabicPeriod"/>
              <a:tabLst/>
              <a:defRPr/>
            </a:lvl2pPr>
            <a:lvl3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Click to add text</a:t>
            </a:r>
          </a:p>
        </p:txBody>
      </p:sp>
      <p:cxnSp>
        <p:nvCxnSpPr>
          <p:cNvPr id="5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115975" y="1349255"/>
            <a:ext cx="161542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1010869" y="720733"/>
            <a:ext cx="18405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schemeClr val="tx1"/>
                </a:solidFill>
                <a:latin typeface="Huawei Sans" panose="020C0503030203020204" pitchFamily="34" charset="0"/>
                <a:ea typeface="Microsoft YaHei" charset="-122"/>
                <a:cs typeface="Huawei Sans" panose="020C0503030203020204" pitchFamily="34" charset="0"/>
              </a:rPr>
              <a:t>Contents</a:t>
            </a:r>
            <a:endParaRPr kumimoji="1" lang="zh-CN" altLang="en-US" sz="3600" dirty="0">
              <a:solidFill>
                <a:schemeClr val="tx1"/>
              </a:solidFill>
              <a:latin typeface="Huawei Sans" panose="020C0503030203020204" pitchFamily="34" charset="0"/>
              <a:ea typeface="Microsoft YaHei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803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Huawei Sans Medium" panose="020C0603030203020204" pitchFamily="34" charset="0"/>
                <a:ea typeface="Microsoft YaHei" panose="020B0503020204020204" pitchFamily="34" charset="-122"/>
                <a:cs typeface="Huawei Sans Medium" panose="020C0603030203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altLang="zh-CN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Huawei Sans" panose="020C0503030203020204" pitchFamily="34" charset="0"/>
                <a:ea typeface="Microsoft YaHei" panose="020B0503020204020204" pitchFamily="34" charset="-122"/>
                <a:cs typeface="Huawei Sans" panose="020C0503030203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600" baseline="0">
                <a:latin typeface="Huawei Sans" panose="020C0503030203020204" pitchFamily="34" charset="0"/>
                <a:ea typeface="Microsoft YaHei" panose="020B0503020204020204" pitchFamily="34" charset="-122"/>
                <a:cs typeface="Huawei Sans" panose="020C0503030203020204" pitchFamily="34" charset="0"/>
              </a:defRPr>
            </a:lvl2pPr>
            <a:lvl3pPr marL="930300" marR="0" indent="0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>
                <a:tab pos="1208088" algn="ctr"/>
              </a:tabLst>
              <a:defRPr sz="1299" baseline="0">
                <a:latin typeface="Huawei Sans" panose="020C0503030203020204" pitchFamily="34" charset="0"/>
                <a:ea typeface="Microsoft YaHei" panose="020B0503020204020204" pitchFamily="34" charset="-122"/>
                <a:cs typeface="Huawei Sans" panose="020C0503030203020204" pitchFamily="34" charset="0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en-US" altLang="zh-CN" dirty="0"/>
              <a:t>Click to add text</a:t>
            </a:r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en-US" altLang="zh-CN" dirty="0"/>
              <a:t>Click to add text</a:t>
            </a:r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en-US" altLang="zh-CN" dirty="0"/>
              <a:t>Click to add text</a:t>
            </a:r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953741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528" y="106331"/>
            <a:ext cx="10519708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92823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60DD1-8AC3-8F46-9D2D-BF81187F43FC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4513194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3.xml"/><Relationship Id="rId4" Type="http://schemas.openxmlformats.org/officeDocument/2006/relationships/image" Target="../media/image7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4.xml"/><Relationship Id="rId3" Type="http://schemas.openxmlformats.org/officeDocument/2006/relationships/image" Target="../media/image8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9181AA-8E93-7743-ADEB-8A06A0DFC13A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83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7359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>
                <a:solidFill>
                  <a:srgbClr val="1D1D1B"/>
                </a:solidFill>
                <a:latin typeface="Huawei Sans" panose="020C0503030203020204" pitchFamily="34" charset="0"/>
                <a:ea typeface="+mn-ea"/>
                <a:cs typeface="Huawei Sans" panose="020C0503030203020204" pitchFamily="34" charset="0"/>
              </a:rPr>
              <a:t>Huawei Confidential</a:t>
            </a:r>
            <a:endParaRPr lang="en-US" sz="900" b="0" kern="1200" baseline="0" dirty="0">
              <a:solidFill>
                <a:srgbClr val="1D1D1B"/>
              </a:solidFill>
              <a:latin typeface="Huawei Sans" panose="020C0503030203020204" pitchFamily="34" charset="0"/>
              <a:ea typeface="+mn-ea"/>
              <a:cs typeface="Huawei Sans" panose="020C05030302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Huawei Sans" panose="020C0503030203020204" pitchFamily="34" charset="0"/>
              <a:cs typeface="Huawei Sans" panose="020C0503030203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19484"/>
            <a:ext cx="1270800" cy="27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372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7" r:id="rId2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33901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Huawei Sans" panose="020C0503030203020204" pitchFamily="34" charset="0"/>
              <a:cs typeface="Huawei Sans" panose="020C0503030203020204" pitchFamily="34" charset="0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Huawei Sans" panose="020C0503030203020204" pitchFamily="34" charset="0"/>
              <a:ea typeface="Microsoft YaHei" charset="-122"/>
              <a:cs typeface="Huawei Sans" panose="020C0503030203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792140-33FB-E045-9071-EE8DB65F2A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824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Huawei Sans" panose="020C0503030203020204" pitchFamily="34" charset="0"/>
          <a:ea typeface="Microsoft YaHei" panose="020B0503020204020204" pitchFamily="34" charset="-122"/>
          <a:cs typeface="Huawei Sans" panose="020C0503030203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3600" b="1">
                <a:solidFill>
                  <a:srgbClr val="1F2328"/>
                </a:solidFill>
              </a:rPr>
              <a:t>Treinamento O&amp;M Hotline Huawei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1832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HCS 8.6.1 | Operações &amp; Manutenção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400" b="0">
                <a:solidFill>
                  <a:srgbClr val="E8E8E8"/>
                </a:solidFill>
              </a:rPr>
              <a:t>Módulo 1 | Português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Agenda do Treinamento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0">
                <a:solidFill>
                  <a:srgbClr val="1F2328"/>
                </a:solidFill>
              </a:rPr>
              <a:t>1. Arquitetura HCS 8.6.1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1F2328"/>
                </a:solidFill>
              </a:rPr>
              <a:t>2. Famílias de Serviços e Acronimos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1F2328"/>
                </a:solidFill>
              </a:rPr>
              <a:t>3. Processo de Abertura de SR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1F2328"/>
                </a:solidFill>
              </a:rPr>
              <a:t>4. Notificação ao TAC e Template de SR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1F2328"/>
                </a:solidFill>
              </a:rPr>
              <a:t>5. Processo ITR (Issue To Resolve)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1F2328"/>
                </a:solidFill>
              </a:rPr>
              <a:t>6. Matriz de Escalação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1F2328"/>
                </a:solidFill>
              </a:rPr>
              <a:t>7. Operações Comuns de O&amp;M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1F2328"/>
                </a:solidFill>
              </a:rPr>
              <a:t>8. Melhores Práticas e Checklist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000" b="1">
                <a:solidFill>
                  <a:srgbClr val="C7000B"/>
                </a:solidFill>
              </a:rPr>
              <a:t>Arquitetura HCS 8.6.1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0">
                <a:solidFill>
                  <a:srgbClr val="666666"/>
                </a:solidFill>
              </a:rPr>
              <a:t>Plano de Gestão e Plano de Dados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Visão Geral da Arquitetura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0">
                <a:solidFill>
                  <a:srgbClr val="1F2328"/>
                </a:solidFill>
              </a:rPr>
              <a:t>O HCS (Huawei Cloud Stack) é uma solução de nuvem privada on-premise.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Componentes principais: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ManageOne — plataforma de operações unificada (O&amp;M)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ServiceCenter — portal de autoserviço e catálogo de serviços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FusionSphere — virtualização (compute, storage, network)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OMBase — banco de dados de operações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Versão alvo: HCS 8.6.1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Objetivo: equipe autorando conteúdo a partir de 01/09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Plano de Gestão vs Plano de Dados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737360"/>
          <a:ext cx="1069847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4639"/>
                <a:gridCol w="3351331"/>
                <a:gridCol w="4382509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Camada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Componentes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Função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Gestão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ManageOne, OMBase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O&amp;M, monitoramento, billing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Gestão ServiceCenter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ServiceCenter, Catalog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Autoserviço, aprovisionamento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Dados — Compute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FusionCompute, ECS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VMs, containers, auto scaling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Dados — Storage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FusionStorage, EVS, OBS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Block, object, file storage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Dados — Network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VPC, EIP, ELB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Rede virtual, IP, balanceamento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754880"/>
            <a:ext cx="10698480" cy="667512"/>
          </a:xfrm>
          <a:prstGeom prst="rect">
            <a:avLst/>
          </a:prstGeom>
          <a:noFill/>
          <a:solidFill>
            <a:srgbClr val="EDF3F9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ℹ  </a:t>
            </a:r>
            <a:r>
              <a:rPr sz="1200" b="0">
                <a:solidFill>
                  <a:srgbClr val="1F2328"/>
                </a:solidFill>
              </a:rPr>
              <a:t>ManageOne é a plataforma de operações — não é um serviço cloud. ServiceCenter é o portal de autoserviço.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000" b="1">
                <a:solidFill>
                  <a:srgbClr val="C7000B"/>
                </a:solidFill>
              </a:rPr>
              <a:t>Serviços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0">
                <a:solidFill>
                  <a:srgbClr val="666666"/>
                </a:solidFill>
              </a:rPr>
              <a:t>Famílias, Acronimos e Nomenclatura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Famílias de Serviços Cloud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737360"/>
          <a:ext cx="1069847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8040"/>
                <a:gridCol w="6141720"/>
                <a:gridCol w="1188719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Família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Serviços Principais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Qtd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Computação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ECS, IMS, AS, CCE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4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Armazenamento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EVS, OBS, SFS, HBR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4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Rede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VPC, EIP, ELB, NAT, VPN, DNS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6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Banco de Dados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RDS, GaussDB, DRS, DDS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4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Segurança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Anti-DDoS, WAF, IAM, KMS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4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754880"/>
            <a:ext cx="10698480" cy="448056"/>
          </a:xfrm>
          <a:prstGeom prst="rect">
            <a:avLst/>
          </a:prstGeom>
          <a:noFill/>
          <a:solidFill>
            <a:srgbClr val="EDF6ED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✓  </a:t>
            </a:r>
            <a:r>
              <a:rPr sz="1200" b="0">
                <a:solidFill>
                  <a:srgbClr val="1F2328"/>
                </a:solidFill>
              </a:rPr>
              <a:t>O hotline precisa saber o nome oficial do serviço para roteamento do SR.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Acronimos Principais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1" y="1737360"/>
          <a:ext cx="10698478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0314"/>
                <a:gridCol w="4481795"/>
                <a:gridCol w="4626369"/>
              </a:tblGrid>
              <a:tr h="38238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Acronimo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Descrição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ECS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Elastic Cloud Server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Servidor virtual escalável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EVS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Elastic Volume Service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Disco de bloco elástico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VPC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Virtual Private Cloud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Rede virtual isolada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ELB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Elastic Load Balance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Balanceador de carga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RDS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Relational Database Service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BD relacional gerenciado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OBS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Object Storage Service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Armazenamento de objetos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IAM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Identity &amp; Access Management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Gestão de identidade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SR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Service Request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Solicitação de serviço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ITR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Issue To Resolve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Incidente até resolução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</a:tr>
              <a:tr h="3823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TAC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Technical Assistance Center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Centro de assistência técnica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Convenção de Nomenclatura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0">
                <a:solidFill>
                  <a:srgbClr val="1F2328"/>
                </a:solidFill>
              </a:rPr>
              <a:t>Regras para nomes de recursos no HCS: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VMs: [projeto]-[função]-[seq]  (ex: billing-app-01)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Volumes: [vm]-[disk]-[seq]     (ex: billing-app-disk-01)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VPCs: [region]-[env]-vpc       (ex: sa-east-1-prod-vpc)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SRs: SR-[ano][mes][seq]        (ex: SR-202609-00123)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Validação: sempre confirmar o nome exato do recurso antes de prosseguir.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000" b="1">
                <a:solidFill>
                  <a:srgbClr val="C7000B"/>
                </a:solidFill>
              </a:rPr>
              <a:t>Processo de Abertura de SR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0">
                <a:solidFill>
                  <a:srgbClr val="666666"/>
                </a:solidFill>
              </a:rPr>
              <a:t>Do email do cliente ao fechamento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Fluxo do Processo de SR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1645920"/>
            <a:ext cx="3657600" cy="45720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0">
                <a:solidFill>
                  <a:srgbClr val="1F2328"/>
                </a:solidFill>
              </a:rPr>
              <a:t>Receber SR (email do cliente)</a:t>
            </a:r>
          </a:p>
        </p:txBody>
      </p:sp>
      <p:sp>
        <p:nvSpPr>
          <p:cNvPr id="4" name="Down Arrow 3"/>
          <p:cNvSpPr/>
          <p:nvPr/>
        </p:nvSpPr>
        <p:spPr>
          <a:xfrm>
            <a:off x="5829300" y="2331720"/>
            <a:ext cx="22860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0" y="2560320"/>
            <a:ext cx="3657600" cy="45720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0">
                <a:solidFill>
                  <a:srgbClr val="1F2328"/>
                </a:solidFill>
              </a:rPr>
              <a:t>Validar identidade e contrato</a:t>
            </a:r>
          </a:p>
        </p:txBody>
      </p:sp>
      <p:sp>
        <p:nvSpPr>
          <p:cNvPr id="6" name="Down Arrow 5"/>
          <p:cNvSpPr/>
          <p:nvPr/>
        </p:nvSpPr>
        <p:spPr>
          <a:xfrm>
            <a:off x="5829300" y="3246120"/>
            <a:ext cx="22860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0" y="3474720"/>
            <a:ext cx="3657600" cy="457200"/>
          </a:xfrm>
          <a:prstGeom prst="roundRect">
            <a:avLst/>
          </a:prstGeom>
          <a:solidFill>
            <a:srgbClr val="FDF8EE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0">
                <a:solidFill>
                  <a:srgbClr val="1F2328"/>
                </a:solidFill>
              </a:rPr>
              <a:t>Classificar severidade (S1-S4)</a:t>
            </a:r>
          </a:p>
        </p:txBody>
      </p:sp>
      <p:sp>
        <p:nvSpPr>
          <p:cNvPr id="8" name="Down Arrow 7"/>
          <p:cNvSpPr/>
          <p:nvPr/>
        </p:nvSpPr>
        <p:spPr>
          <a:xfrm>
            <a:off x="5829300" y="4160520"/>
            <a:ext cx="22860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0" y="4389120"/>
            <a:ext cx="3657600" cy="457200"/>
          </a:xfrm>
          <a:prstGeom prst="roundRect">
            <a:avLst/>
          </a:prstGeom>
          <a:solidFill>
            <a:srgbClr val="EDF6ED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1F2328"/>
                </a:solidFill>
              </a:rPr>
              <a:t>Enviar email para TAC Team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829300" y="5074920"/>
            <a:ext cx="22860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0" y="5303520"/>
            <a:ext cx="3657600" cy="45720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0">
                <a:solidFill>
                  <a:srgbClr val="1F2328"/>
                </a:solidFill>
              </a:rPr>
              <a:t>Diagnosticar e resolver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829300" y="5989320"/>
            <a:ext cx="22860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14800" y="6217920"/>
            <a:ext cx="3657600" cy="45720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0">
                <a:solidFill>
                  <a:srgbClr val="1F2328"/>
                </a:solidFill>
              </a:rPr>
              <a:t>Verificar e fechar SR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Notificação ao TAC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667512"/>
          </a:xfrm>
          <a:prstGeom prst="rect">
            <a:avLst/>
          </a:prstGeom>
          <a:noFill/>
          <a:solidFill>
            <a:srgbClr val="FDF8EE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⚠  </a:t>
            </a:r>
            <a:r>
              <a:rPr sz="1200" b="0">
                <a:solidFill>
                  <a:srgbClr val="1F2328"/>
                </a:solidFill>
              </a:rPr>
              <a:t>OBRIGATÓRIO: ao abrir qualquer SR, enviar email para o TAC Team usando o template de SR oficial.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3200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>
                <a:solidFill>
                  <a:srgbClr val="1F2328"/>
                </a:solidFill>
              </a:rPr>
              <a:t>Template de SR (campos obrigatórios):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Número do SR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Cliente e site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Severidade (S1/S2/S3/S4)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Serviço afetado (nome oficial)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Descrição do problema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Impacto no negócio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Janela de manutenção (se aplicável)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Contato do responsável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Recebimento de Emails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0">
                <a:solidFill>
                  <a:srgbClr val="1F2328"/>
                </a:solidFill>
              </a:rPr>
              <a:t>Fluxo atual: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O cliente envia email → hotline recebe e abre SR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Futuro (em transição):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Emails chegaram via mailbox dedicada → triagem automática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Independente do canal de entrada, o processo é o mesmo: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1. Validar solicitante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2. Abrir SR no sistema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3. Notificar TAC Team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4. Atribuir responsável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698480" cy="448056"/>
          </a:xfrm>
          <a:prstGeom prst="rect">
            <a:avLst/>
          </a:prstGeom>
          <a:noFill/>
          <a:solidFill>
            <a:srgbClr val="EDF6ED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✓  </a:t>
            </a:r>
            <a:r>
              <a:rPr sz="1200" b="0">
                <a:solidFill>
                  <a:srgbClr val="1F2328"/>
                </a:solidFill>
              </a:rPr>
              <a:t>Sempre validar a identidade do chamador contra a lista de contatos autorizados.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000" b="1">
                <a:solidFill>
                  <a:srgbClr val="C7000B"/>
                </a:solidFill>
              </a:rPr>
              <a:t>Processo ITR (Issue To Resolve)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0">
                <a:solidFill>
                  <a:srgbClr val="666666"/>
                </a:solidFill>
              </a:rPr>
              <a:t>Da triagem ao fechamento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Fluxo ITR com Escalação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2286000" cy="45720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0">
                <a:solidFill>
                  <a:srgbClr val="1F2328"/>
                </a:solidFill>
              </a:rPr>
              <a:t>Incidente Reportado</a:t>
            </a:r>
          </a:p>
        </p:txBody>
      </p:sp>
      <p:sp>
        <p:nvSpPr>
          <p:cNvPr id="4" name="Down Arrow 3"/>
          <p:cNvSpPr/>
          <p:nvPr/>
        </p:nvSpPr>
        <p:spPr>
          <a:xfrm>
            <a:off x="2400300" y="2331720"/>
            <a:ext cx="22860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2560320"/>
            <a:ext cx="2286000" cy="45720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0">
                <a:solidFill>
                  <a:srgbClr val="1F2328"/>
                </a:solidFill>
              </a:rPr>
              <a:t>Triagem L1</a:t>
            </a:r>
          </a:p>
        </p:txBody>
      </p:sp>
      <p:sp>
        <p:nvSpPr>
          <p:cNvPr id="6" name="Down Arrow 5"/>
          <p:cNvSpPr/>
          <p:nvPr/>
        </p:nvSpPr>
        <p:spPr>
          <a:xfrm>
            <a:off x="2400300" y="3246120"/>
            <a:ext cx="22860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1143000" y="3474720"/>
            <a:ext cx="2743200" cy="731520"/>
          </a:xfrm>
          <a:prstGeom prst="diamond">
            <a:avLst/>
          </a:prstGeom>
          <a:solidFill>
            <a:srgbClr val="FFF3E0"/>
          </a:solidFill>
          <a:ln w="1270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1F2328"/>
                </a:solidFill>
              </a:rPr>
              <a:t>L1 resolve?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017520"/>
            <a:ext cx="2286000" cy="457200"/>
          </a:xfrm>
          <a:prstGeom prst="roundRect">
            <a:avLst/>
          </a:prstGeom>
          <a:solidFill>
            <a:srgbClr val="FDF8EE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1F2328"/>
                </a:solidFill>
              </a:rPr>
              <a:t>Escalar para L2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657600" y="3154680"/>
            <a:ext cx="45720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5600700" y="3474720"/>
            <a:ext cx="22860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3703320"/>
            <a:ext cx="2286000" cy="45720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0">
                <a:solidFill>
                  <a:srgbClr val="1F2328"/>
                </a:solidFill>
              </a:rPr>
              <a:t>L2 Investiga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600700" y="4389120"/>
            <a:ext cx="22860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iamond 12"/>
          <p:cNvSpPr/>
          <p:nvPr/>
        </p:nvSpPr>
        <p:spPr>
          <a:xfrm>
            <a:off x="4343400" y="4617720"/>
            <a:ext cx="2743200" cy="731520"/>
          </a:xfrm>
          <a:prstGeom prst="diamond">
            <a:avLst/>
          </a:prstGeom>
          <a:solidFill>
            <a:srgbClr val="FFF3E0"/>
          </a:solidFill>
          <a:ln w="1270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1F2328"/>
                </a:solidFill>
              </a:rPr>
              <a:t>L2 resolve?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4572000"/>
            <a:ext cx="2286000" cy="457200"/>
          </a:xfrm>
          <a:prstGeom prst="roundRect">
            <a:avLst/>
          </a:prstGeom>
          <a:solidFill>
            <a:srgbClr val="FDF8EE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1F2328"/>
                </a:solidFill>
              </a:rPr>
              <a:t>Escalar L3/R&amp;D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858000" y="4709160"/>
            <a:ext cx="45720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800" y="5486400"/>
            <a:ext cx="3657600" cy="457200"/>
          </a:xfrm>
          <a:prstGeom prst="roundRect">
            <a:avLst/>
          </a:prstGeom>
          <a:solidFill>
            <a:srgbClr val="EDF6ED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1F2328"/>
                </a:solidFill>
              </a:rPr>
              <a:t>Resolver &amp; Fechar ITR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Matriz de Escalação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1" y="1737360"/>
          <a:ext cx="1069847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8537"/>
                <a:gridCol w="3056708"/>
                <a:gridCol w="1528354"/>
                <a:gridCol w="4754879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Nível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Responsável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SLA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Quando Escalar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L1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Hotline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15 min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Problema não identificado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L2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Especialista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1h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L1 não resolve em 30 min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L3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Eng. de Produto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4h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Bug ou config complexa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R&amp;D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Desenvolvimento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24h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Bug de produto confirmado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572000"/>
            <a:ext cx="10698480" cy="448056"/>
          </a:xfrm>
          <a:prstGeom prst="rect">
            <a:avLst/>
          </a:prstGeom>
          <a:noFill/>
          <a:solidFill>
            <a:srgbClr val="FDF8EE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⚠  </a:t>
            </a:r>
            <a:r>
              <a:rPr sz="1200" b="0">
                <a:solidFill>
                  <a:srgbClr val="1F2328"/>
                </a:solidFill>
              </a:rPr>
              <a:t>S1 (crítico): escalar imediatamente para L2 ao abrir o SR.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000" b="1">
                <a:solidFill>
                  <a:srgbClr val="C7000B"/>
                </a:solidFill>
              </a:rPr>
              <a:t>Operações Comuns de O&amp;M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0">
                <a:solidFill>
                  <a:srgbClr val="666666"/>
                </a:solidFill>
              </a:rPr>
              <a:t>Monitoramento, problemas e soluções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Monitoramento e Alertas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>
                <a:solidFill>
                  <a:srgbClr val="1F2328"/>
                </a:solidFill>
              </a:rPr>
              <a:t>Ferramentas de monitoramento HCS: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ManageOne Operation — dashboards de saúde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AOM (Application Operations Management) — métricas de app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APM (Application Performance Monitoring) — traces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CloudEye — monitoramento de infra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Alertass comuns: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CPU &gt; 80% por 5 min → verificar cargas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Disco &gt; 90% → verificar logs e snapshots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Memória &gt; 85% → verificar vazamentos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Latência de rede &gt; 100ms → verificar VPC/ELB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Problemas Comuns e Soluções Rápidas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73736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5349240"/>
              </a:tblGrid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Problema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Sintoma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Ação Rápida</a:t>
                      </a:r>
                    </a:p>
                  </a:txBody>
                  <a:tcPr marL="109728" marR="109728" marT="73152" marB="73152" anchor="ctr">
                    <a:solidFill>
                      <a:srgbClr val="C7000B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VM não liga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Status: ERROR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Verificar quotas, disco, rede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Disco cheio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Alerta &gt; 90%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Limpar logs, expandir EVS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Sem rede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Ping falha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Verificar VPC, EIP, SG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ELB unhealthy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Backend down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Verificar health check, porta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RDS lento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Query timeout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Verificar slow log, índices</a:t>
                      </a:r>
                    </a:p>
                  </a:txBody>
                  <a:tcPr marL="109728" marR="109728" marT="54864" marB="54864" anchor="ctr">
                    <a:solidFill>
                      <a:srgbClr val="F6F8FA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OBS 403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Access denied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Verificar AK/SK, policy IAM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000" b="1">
                <a:solidFill>
                  <a:srgbClr val="C7000B"/>
                </a:solidFill>
              </a:rPr>
              <a:t>Melhores Práticas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0">
                <a:solidFill>
                  <a:srgbClr val="666666"/>
                </a:solidFill>
              </a:rPr>
              <a:t>Checklist e recursos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O Que Fazer e O Que Não Fazer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48056"/>
          </a:xfrm>
          <a:prstGeom prst="rect">
            <a:avLst/>
          </a:prstGeom>
          <a:noFill/>
          <a:solidFill>
            <a:srgbClr val="FDF8EE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⚠  </a:t>
            </a:r>
            <a:r>
              <a:rPr sz="1200" b="0">
                <a:solidFill>
                  <a:srgbClr val="1F2328"/>
                </a:solidFill>
              </a:rPr>
              <a:t>Nunca solicitar ou aceitar credenciais do cliente. Oriente ao autoatendimento.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448056"/>
          </a:xfrm>
          <a:prstGeom prst="rect">
            <a:avLst/>
          </a:prstGeom>
          <a:noFill/>
          <a:solidFill>
            <a:srgbClr val="EDF6ED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✓  </a:t>
            </a:r>
            <a:r>
              <a:rPr sz="1200" b="0">
                <a:solidFill>
                  <a:srgbClr val="1F2328"/>
                </a:solidFill>
              </a:rPr>
              <a:t>Sempre confirmar o nome exato do serviço e recurso antes de prosseguir.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39"/>
            <a:ext cx="10698480" cy="448056"/>
          </a:xfrm>
          <a:prstGeom prst="rect">
            <a:avLst/>
          </a:prstGeom>
          <a:noFill/>
          <a:solidFill>
            <a:srgbClr val="EDF3F9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ℹ  </a:t>
            </a:r>
            <a:r>
              <a:rPr sz="1200" b="0">
                <a:solidFill>
                  <a:srgbClr val="1F2328"/>
                </a:solidFill>
              </a:rPr>
              <a:t>Documentar cada passo do troubleshooting no SR para rastreabilidade.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698480" cy="448056"/>
          </a:xfrm>
          <a:prstGeom prst="rect">
            <a:avLst/>
          </a:prstGeom>
          <a:noFill/>
          <a:solidFill>
            <a:srgbClr val="FDF8EE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⚠  </a:t>
            </a:r>
            <a:r>
              <a:rPr sz="1200" b="0">
                <a:solidFill>
                  <a:srgbClr val="1F2328"/>
                </a:solidFill>
              </a:rPr>
              <a:t>Não aplicar workaround em produção sem janela de manutenção aprovada.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698480" cy="448056"/>
          </a:xfrm>
          <a:prstGeom prst="rect">
            <a:avLst/>
          </a:prstGeom>
          <a:noFill/>
          <a:solidFill>
            <a:srgbClr val="EDF6ED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✓  </a:t>
            </a:r>
            <a:r>
              <a:rPr sz="1200" b="0">
                <a:solidFill>
                  <a:srgbClr val="1F2328"/>
                </a:solidFill>
              </a:rPr>
              <a:t>Usar o template de SR oficial ao notificar o TAC Team.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Recursos de Autoatendimento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0">
                <a:solidFill>
                  <a:srgbClr val="1F2328"/>
                </a:solidFill>
              </a:rPr>
              <a:t>Direcionar clientes para: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ServiceCenter — portal de autoserviço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Documentação HCS — docs.huaweicloud.com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Knowledge Base — artigos de troubleshooting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Status Page — status dos serviços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Forum — comunidade técnica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Benefícios: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Reduz volume de SRs de baixa severidade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Cliente resolve mais rápido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Hotline foca em S1/S2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Checklist de Validação do SR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0">
                <a:solidFill>
                  <a:srgbClr val="1F2328"/>
                </a:solidFill>
              </a:rPr>
              <a:t>Antes de fechar qualquer SR, validar: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Identidade do solicitante confirmada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Nome oficial do serviço identificado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Severidade classificada corretamente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TAC Team notificado com template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Diagnóstico documentado no SR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Solução aplicada e verificada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Cliente confirmou a resolução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SR fechado com resolução documentada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Lições aprendidas registradas (se aplicável)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4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0">
                <a:solidFill>
                  <a:srgbClr val="1F2328"/>
                </a:solidFill>
              </a:rPr>
              <a:t>Objetivo: equipe autorando conteúdo a partir de 01/09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Preparação necessária: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1. Revisar este treinamento completo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2. Praticar abertura de SRs com template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3. Familiarizar com ManageOne e ServiceCenter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4. Estudar fluxos ITR e matriz de escalação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5. Conhecer acronimos e famílias de serviços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Stack alvo: HCS 8.6.1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0"/>
            <a:ext cx="10698480" cy="448056"/>
          </a:xfrm>
          <a:prstGeom prst="rect">
            <a:avLst/>
          </a:prstGeom>
          <a:noFill/>
          <a:solidFill>
            <a:srgbClr val="EDF6ED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✓  </a:t>
            </a:r>
            <a:r>
              <a:rPr sz="1200" b="0">
                <a:solidFill>
                  <a:srgbClr val="1F2328"/>
                </a:solidFill>
              </a:rPr>
              <a:t>Dúvidas? Consultar a matriz de escalação ou escalar para L2.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1_Title Slid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2.xml><?xml version="1.0" encoding="utf-8"?>
<a:theme xmlns:a="http://schemas.openxmlformats.org/drawingml/2006/main" name="Contents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91E8AC51-71E2-47EB-A98B-31EFD4425DE1}"/>
    </a:ext>
  </a:extLst>
</a:theme>
</file>

<file path=ppt/theme/theme3.xml><?xml version="1.0" encoding="utf-8"?>
<a:theme xmlns:a="http://schemas.openxmlformats.org/drawingml/2006/main" name="Chapter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4.xml><?xml version="1.0" encoding="utf-8"?>
<a:theme xmlns:a="http://schemas.openxmlformats.org/drawingml/2006/main" name="Last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CE9DE895-046C-40AC-AD8E-ED7DD660489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MWC 19-PPT模板-白底 16比9</Template>
  <TotalTime>8211</TotalTime>
  <Words>260</Words>
  <Application>Microsoft Office PowerPoint</Application>
  <PresentationFormat>Custom</PresentationFormat>
  <Paragraphs>70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Huawei Sans</vt:lpstr>
      <vt:lpstr>Huawei Sans bold</vt:lpstr>
      <vt:lpstr>Huawei Sans Medium</vt:lpstr>
      <vt:lpstr>Microsoft YaHei</vt:lpstr>
      <vt:lpstr>Microsoft YaHei</vt:lpstr>
      <vt:lpstr>方正兰亭黑简体</vt:lpstr>
      <vt:lpstr>Arial</vt:lpstr>
      <vt:lpstr>Calibri</vt:lpstr>
      <vt:lpstr>Calibri Light</vt:lpstr>
      <vt:lpstr>Helvetica</vt:lpstr>
      <vt:lpstr>Trebuchet MS</vt:lpstr>
      <vt:lpstr>1_Title Slide</vt:lpstr>
      <vt:lpstr>Contents</vt:lpstr>
      <vt:lpstr>Chapter Page</vt:lpstr>
      <vt:lpstr>Last Page</vt:lpstr>
      <vt:lpstr>PowerPoint Presentation</vt:lpstr>
      <vt:lpstr>PowerPoint Presentation</vt:lpstr>
      <vt:lpstr>PowerPoint Presentation</vt:lpstr>
      <vt:lpstr>Simple Timeline</vt:lpstr>
      <vt:lpstr>PowerPoint Presentation</vt:lpstr>
      <vt:lpstr>PowerPoint Presentation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AutoBVT</dc:creator>
  <cp:lastModifiedBy>Raul Myron Silva Amorim</cp:lastModifiedBy>
  <cp:revision>72</cp:revision>
  <dcterms:created xsi:type="dcterms:W3CDTF">2018-12-05T07:23:25Z</dcterms:created>
  <dcterms:modified xsi:type="dcterms:W3CDTF">2025-10-23T16:46:17Z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(3)TKIRsvJGB1AVwLuiVyVjJkBLlz+Tk4ycwbgcPygMtETI5CubN/+Xj9LD9xU10CvjzR8CSPhf
c7n7OWPwHulUdKGtEhYOyhlQU5QAioiyv0O2gAn5OI0ed3DcyaUHH2wudMcjo/tKeB6kORKB
/iaw+lN1ejzPsVQWC+vFAcz51+Aq85heu+9YHniksqnQSHN6u3oKIxDWLYKgFZLVJ7imEDMs
9JJmSoFskvjpoarCs5</vt:lpwstr>
  </property>
  <property fmtid="{D5CDD505-2E9C-101B-9397-08002B2CF9AE}" pid="3" name="_2015_ms_pID_7253431">
    <vt:lpwstr>1iu2XbqqlQqU/YU99QAol+bhCqese1xDCLmbpAVGE6fLwAq3OL3TbH
dJrp8dS6ujEh0ySRS2XYMxM3iLPOaKVAO7pL6g6FYtAtcP2tR0CzX4NG4QqaAAZP++VJg8dL
XOaV0onr4MNpyxAB7NWv6qCgAzEQLOJCeH3NqEnXvbbmLDLGJfpiTCkiZ+OfUZgRB/i7EJzZ
s3erScYclZ4o/yOjAZhBth6vtz7Fs1Ertjq2</vt:lpwstr>
  </property>
  <property fmtid="{D5CDD505-2E9C-101B-9397-08002B2CF9AE}" pid="4" name="_2015_ms_pID_7253432">
    <vt:lpwstr>Yg==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1575429571</vt:lpwstr>
  </property>
</Properties>
</file>